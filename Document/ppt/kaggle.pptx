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handbook takes an engineer from zero financial literacy to the internals of a financial planning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modules, in order: from personal finance fundamentals through the regulatory ecosystem, products, schemes, policy logic, and finally the software that implements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writing a line of code, engineers need to understand what money actually is, and why a rupee today is not worth the same as a rupee in twenty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buckets: income, expenses, assets, liabilities. Net worth — not salary — is the number that actually matters, and it's simply assets minus liabilities.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financial product a planner recommends exists somewhere on this cycle — this is the map the recommendation engine ultimately navigates.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chapter most developers never learn: the regulators whose rules the planner must encode. Repo rate changes from the RBI ripple into every loan and FD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do a single calculation, we explain every product a planner might recommend, from a savings account to a term insurance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Government schemes are where many recommendation engines derive their advice — each one needs eligibility, lock-in, returns, and tax treatment encoded.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private product needs the same four questions answered: who provides it, who regulates it, what it costs, and who it suits.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 isn't a footnote — it changes which product wins. Old vs new regime, capital gains, and TDS all feed directly into the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brain of the planner: government rules are law, company policies are judgment calls the product team can revise.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once products and policy are understood do we reach for formulas. Every formula gets a worked example, edge cases, and a code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recommendation is traceable: which inputs triggered it, which calculations and policies were used, and how conflicts between recommendations are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we map every business concept onto the codebase, so an engineer knows exactly where calculations, policies, and recommendations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reiterating the throughline: finance first, then policy, then code — in that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011537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HANDBOOK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3492550"/>
            <a:ext cx="14716125" cy="1601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7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Planning, Engineered.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952500" y="5399038"/>
            <a:ext cx="11772900" cy="885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ground-up guide to money, markets, and policy — for the developers building the planning engine.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6951613"/>
            <a:ext cx="140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423368" y="6970663"/>
            <a:ext cx="9525" cy="266700"/>
          </a:xfrm>
          <a:prstGeom prst="rect">
            <a:avLst/>
          </a:prstGeom>
          <a:solidFill>
            <a:srgbClr val="8496AD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23393" y="6932563"/>
            <a:ext cx="43484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 Fundamentals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ROADMAP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3192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modules, one system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9956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24574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790700" y="2395538"/>
            <a:ext cx="5280169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 Fundamentals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381476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327660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790700" y="3214688"/>
            <a:ext cx="436502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Financial Ecosystem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46339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0957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790700" y="4033837"/>
            <a:ext cx="2949989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Products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" y="545306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491490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790700" y="4852988"/>
            <a:ext cx="352748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Schemes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62722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17" name="Text 15"/>
          <p:cNvSpPr/>
          <p:nvPr/>
        </p:nvSpPr>
        <p:spPr>
          <a:xfrm>
            <a:off x="952500" y="57340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790700" y="5672138"/>
            <a:ext cx="4147698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Financial Products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525000" y="29956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24574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363200" y="2395538"/>
            <a:ext cx="202093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Planning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0" y="381476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0" y="327660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363200" y="3214688"/>
            <a:ext cx="559007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Policies &amp; Business Rules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525000" y="46339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26" name="Text 24"/>
          <p:cNvSpPr/>
          <p:nvPr/>
        </p:nvSpPr>
        <p:spPr>
          <a:xfrm>
            <a:off x="9525000" y="40957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363200" y="4033837"/>
            <a:ext cx="2962104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Engine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525000" y="545306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29" name="Text 27"/>
          <p:cNvSpPr/>
          <p:nvPr/>
        </p:nvSpPr>
        <p:spPr>
          <a:xfrm>
            <a:off x="9525000" y="491490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0363200" y="4852988"/>
            <a:ext cx="399667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9525000" y="6272213"/>
            <a:ext cx="7810500" cy="9525"/>
          </a:xfrm>
          <a:prstGeom prst="rect">
            <a:avLst/>
          </a:prstGeom>
          <a:solidFill>
            <a:srgbClr val="EEE7D6"/>
          </a:solidFill>
          <a:ln/>
        </p:spPr>
      </p:sp>
      <p:sp>
        <p:nvSpPr>
          <p:cNvPr id="32" name="Text 30"/>
          <p:cNvSpPr/>
          <p:nvPr/>
        </p:nvSpPr>
        <p:spPr>
          <a:xfrm>
            <a:off x="9525000" y="5734050"/>
            <a:ext cx="685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550" dirty="0"/>
          </a:p>
        </p:txBody>
      </p:sp>
      <p:sp>
        <p:nvSpPr>
          <p:cNvPr id="33" name="Text 31"/>
          <p:cNvSpPr/>
          <p:nvPr/>
        </p:nvSpPr>
        <p:spPr>
          <a:xfrm>
            <a:off x="10363200" y="5672138"/>
            <a:ext cx="34922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Architecture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· CHAPTER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money?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4664869"/>
            <a:ext cx="7732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is currency?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5217319"/>
            <a:ext cx="7732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does inflation exist?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2500" y="5769769"/>
            <a:ext cx="7732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banks create money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52500" y="6322219"/>
            <a:ext cx="7732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Cash vs. wealth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6874669"/>
            <a:ext cx="77323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Purchasing power over time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743950" y="2357438"/>
            <a:ext cx="8591550" cy="7167563"/>
          </a:xfrm>
          <a:prstGeom prst="roundRect">
            <a:avLst>
              <a:gd name="adj" fmla="val 2658"/>
            </a:avLst>
          </a:prstGeom>
          <a:solidFill>
            <a:srgbClr val="16304E"/>
          </a:solidFill>
          <a:ln/>
        </p:spPr>
      </p:sp>
      <p:sp>
        <p:nvSpPr>
          <p:cNvPr id="10" name="Text 8"/>
          <p:cNvSpPr/>
          <p:nvPr/>
        </p:nvSpPr>
        <p:spPr>
          <a:xfrm>
            <a:off x="9277350" y="4471988"/>
            <a:ext cx="82772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32" kern="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PURCHASING POWER MATTERS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277350" y="4933950"/>
            <a:ext cx="827722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₹100 </a:t>
            </a:r>
            <a:pPr algn="l" indent="0" marL="0">
              <a:buNone/>
            </a:pPr>
            <a:r>
              <a:rPr lang="en-US" sz="1950" dirty="0">
                <a:solidFill>
                  <a:srgbClr val="8496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9277350" y="5634038"/>
            <a:ext cx="82772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inflation, 6% / year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277350" y="6096000"/>
            <a:ext cx="827722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20 years pass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77350" y="6557963"/>
            <a:ext cx="7524750" cy="852488"/>
          </a:xfrm>
          <a:prstGeom prst="roundRect">
            <a:avLst>
              <a:gd name="adj" fmla="val 13408"/>
            </a:avLst>
          </a:prstGeom>
          <a:solidFill>
            <a:srgbClr val="1E7A5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505950" y="6729413"/>
            <a:ext cx="729329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1E7A5F"/>
                </a:solidFill>
                <a:highlight>
                  <a:srgbClr val="DDEBE7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₹31 </a:t>
            </a:r>
            <a:pPr algn="l" indent="0" marL="0">
              <a:buNone/>
            </a:pPr>
            <a:r>
              <a:rPr lang="en-US" sz="19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of today's goods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· CHAPTER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finance basics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357438"/>
            <a:ext cx="3895725" cy="3565029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662238"/>
            <a:ext cx="36985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3228975"/>
            <a:ext cx="3463195" cy="2426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Freelancing Business Rental income Dividends Interest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114925" y="2357438"/>
            <a:ext cx="3895725" cy="3565029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381625" y="2662238"/>
            <a:ext cx="36985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381625" y="3228975"/>
            <a:ext cx="346319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Variable Lifestyle Emergency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277350" y="2357438"/>
            <a:ext cx="3895725" cy="3565029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9544050" y="2662238"/>
            <a:ext cx="36985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544050" y="3228975"/>
            <a:ext cx="3463195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Stocks Gold Mutual funds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3439775" y="2357438"/>
            <a:ext cx="3895725" cy="3565029"/>
          </a:xfrm>
          <a:prstGeom prst="roundRect">
            <a:avLst>
              <a:gd name="adj" fmla="val 427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06475" y="2662238"/>
            <a:ext cx="36985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54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Liabilities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706475" y="3228975"/>
            <a:ext cx="3463195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 Credit cards Mortgage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356473" y="7321302"/>
            <a:ext cx="7574979" cy="995363"/>
          </a:xfrm>
          <a:prstGeom prst="roundRect">
            <a:avLst>
              <a:gd name="adj" fmla="val 15311"/>
            </a:avLst>
          </a:prstGeom>
          <a:solidFill>
            <a:srgbClr val="0F2036"/>
          </a:solidFill>
          <a:ln/>
        </p:spPr>
      </p:sp>
      <p:sp>
        <p:nvSpPr>
          <p:cNvPr id="17" name="Text 15"/>
          <p:cNvSpPr/>
          <p:nvPr/>
        </p:nvSpPr>
        <p:spPr>
          <a:xfrm>
            <a:off x="5889873" y="7635627"/>
            <a:ext cx="1242268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7322641" y="7635627"/>
            <a:ext cx="27057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7783711" y="7635627"/>
            <a:ext cx="235154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Liabilities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188178" y="7635627"/>
            <a:ext cx="27057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0649248" y="7607052"/>
            <a:ext cx="192368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Worth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 · CHAPTER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life cycle of money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52637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financial product exists somewhere in this lifecycle.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2904976" y="5767388"/>
            <a:ext cx="1101551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6" name="Text 4"/>
          <p:cNvSpPr/>
          <p:nvPr/>
        </p:nvSpPr>
        <p:spPr>
          <a:xfrm>
            <a:off x="3190726" y="5976938"/>
            <a:ext cx="60625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39878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33292" y="5767388"/>
            <a:ext cx="1133326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9" name="Text 7"/>
          <p:cNvSpPr/>
          <p:nvPr/>
        </p:nvSpPr>
        <p:spPr>
          <a:xfrm>
            <a:off x="4719042" y="5976938"/>
            <a:ext cx="6380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699968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93383" y="5767388"/>
            <a:ext cx="1468487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12" name="Text 10"/>
          <p:cNvSpPr/>
          <p:nvPr/>
        </p:nvSpPr>
        <p:spPr>
          <a:xfrm>
            <a:off x="6279133" y="5976938"/>
            <a:ext cx="9731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95220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888635" y="5767388"/>
            <a:ext cx="1300237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15" name="Text 13"/>
          <p:cNvSpPr/>
          <p:nvPr/>
        </p:nvSpPr>
        <p:spPr>
          <a:xfrm>
            <a:off x="8174385" y="5976938"/>
            <a:ext cx="8049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322222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615636" y="5767388"/>
            <a:ext cx="1173956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18" name="Text 16"/>
          <p:cNvSpPr/>
          <p:nvPr/>
        </p:nvSpPr>
        <p:spPr>
          <a:xfrm>
            <a:off x="9901386" y="5976938"/>
            <a:ext cx="6786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922943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216357" y="5767388"/>
            <a:ext cx="1281633" cy="733425"/>
          </a:xfrm>
          <a:prstGeom prst="roundRect">
            <a:avLst>
              <a:gd name="adj" fmla="val 15584"/>
            </a:avLst>
          </a:prstGeom>
          <a:solidFill>
            <a:srgbClr val="F7F3EA"/>
          </a:solidFill>
          <a:ln/>
        </p:spPr>
      </p:sp>
      <p:sp>
        <p:nvSpPr>
          <p:cNvPr id="21" name="Text 19"/>
          <p:cNvSpPr/>
          <p:nvPr/>
        </p:nvSpPr>
        <p:spPr>
          <a:xfrm>
            <a:off x="11502107" y="5976938"/>
            <a:ext cx="7863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631341" y="5981700"/>
            <a:ext cx="2362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924755" y="5767388"/>
            <a:ext cx="2458269" cy="733425"/>
          </a:xfrm>
          <a:prstGeom prst="roundRect">
            <a:avLst>
              <a:gd name="adj" fmla="val 15584"/>
            </a:avLst>
          </a:prstGeom>
          <a:solidFill>
            <a:srgbClr val="1E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13210505" y="5976938"/>
            <a:ext cx="19629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Wealth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Indian financial ecosystem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357438"/>
            <a:ext cx="5308550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643188"/>
            <a:ext cx="52107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38250" y="3152775"/>
            <a:ext cx="48791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repo rate, controls monetary policy, regulates banks, and manages inflation.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89650" y="2357438"/>
            <a:ext cx="5308625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775400" y="2643188"/>
            <a:ext cx="521083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SEBI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775400" y="3152775"/>
            <a:ext cx="48792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Regulates stock markets, mutual funds, and investment advisors to protect investors.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026875" y="2357438"/>
            <a:ext cx="5308550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12625" y="2643188"/>
            <a:ext cx="52107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IRDAI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312625" y="3152775"/>
            <a:ext cx="48791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Oversees health and life insurance companies and claim settlement standards.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2500" y="5805488"/>
            <a:ext cx="5308550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6091238"/>
            <a:ext cx="52107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PFRDA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38250" y="6600825"/>
            <a:ext cx="48791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Governs the National Pension System and retirement planning products.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89650" y="5805488"/>
            <a:ext cx="5308625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775400" y="6091238"/>
            <a:ext cx="521083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 Dept.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6775400" y="6600825"/>
            <a:ext cx="487923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Administers income tax, capital gains, tax slabs, advance tax, and TDS.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26875" y="5805488"/>
            <a:ext cx="5308550" cy="3219450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2312625" y="6091238"/>
            <a:ext cx="52107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Finance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12625" y="6600825"/>
            <a:ext cx="4879162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the annual budget, shaping tax, interest, savings, and government schemes.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2500" y="9253538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rate changes cascade into home loans, car loans, personal loans, and fixed deposits.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products, product by product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357438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605088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CH.5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00150" y="5307806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95875" y="2357438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8" name="Text 6"/>
          <p:cNvSpPr/>
          <p:nvPr/>
        </p:nvSpPr>
        <p:spPr>
          <a:xfrm>
            <a:off x="5343525" y="2605088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43525" y="5307806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Deposits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239250" y="2357438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11" name="Text 9"/>
          <p:cNvSpPr/>
          <p:nvPr/>
        </p:nvSpPr>
        <p:spPr>
          <a:xfrm>
            <a:off x="9486900" y="2605088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CH.7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86900" y="5307806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Deposits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82625" y="2357438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14" name="Text 12"/>
          <p:cNvSpPr/>
          <p:nvPr/>
        </p:nvSpPr>
        <p:spPr>
          <a:xfrm>
            <a:off x="13630275" y="2605088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CH.8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630275" y="5307806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6036469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6284119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CH.9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00150" y="8986838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95875" y="6036469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20" name="Text 18"/>
          <p:cNvSpPr/>
          <p:nvPr/>
        </p:nvSpPr>
        <p:spPr>
          <a:xfrm>
            <a:off x="5343525" y="6284119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CH.10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43525" y="8986838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239250" y="6036469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6304E"/>
          </a:solidFill>
          <a:ln/>
        </p:spPr>
      </p:sp>
      <p:sp>
        <p:nvSpPr>
          <p:cNvPr id="23" name="Text 21"/>
          <p:cNvSpPr/>
          <p:nvPr/>
        </p:nvSpPr>
        <p:spPr>
          <a:xfrm>
            <a:off x="9486900" y="6284119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86900" y="8986838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382625" y="6036469"/>
            <a:ext cx="3952875" cy="3488531"/>
          </a:xfrm>
          <a:prstGeom prst="roundRect">
            <a:avLst>
              <a:gd name="adj" fmla="val 3823"/>
            </a:avLst>
          </a:prstGeom>
          <a:solidFill>
            <a:srgbClr val="1E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3630275" y="6284119"/>
            <a:ext cx="380333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20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CH.12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630275" y="8986838"/>
            <a:ext cx="380333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schemes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52637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· investment limits · lock-in · returns · tax treatment · when to recommend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2667000"/>
            <a:ext cx="1041053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895600"/>
            <a:ext cx="50765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PPF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2184053" y="2667000"/>
            <a:ext cx="102937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488853" y="2895600"/>
            <a:ext cx="4959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EPF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403922" y="2667000"/>
            <a:ext cx="1075060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708722" y="2895600"/>
            <a:ext cx="5416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669482" y="2667000"/>
            <a:ext cx="2900139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74282" y="2895600"/>
            <a:ext cx="237754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Sukanya Samriddhi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760122" y="2667000"/>
            <a:ext cx="1220539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64922" y="2895600"/>
            <a:ext cx="6871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SCSS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71161" y="2667000"/>
            <a:ext cx="2631728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475961" y="2895600"/>
            <a:ext cx="210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Kisan Vikas Patra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1993389" y="2667000"/>
            <a:ext cx="1085031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298189" y="2895600"/>
            <a:ext cx="55163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NSC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268920" y="2667000"/>
            <a:ext cx="2932881" cy="771525"/>
          </a:xfrm>
          <a:prstGeom prst="roundRect">
            <a:avLst>
              <a:gd name="adj" fmla="val 14815"/>
            </a:avLst>
          </a:prstGeom>
          <a:solidFill>
            <a:srgbClr val="C79A3D"/>
          </a:solidFill>
          <a:ln/>
        </p:spPr>
      </p:sp>
      <p:sp>
        <p:nvSpPr>
          <p:cNvPr id="20" name="Text 18"/>
          <p:cNvSpPr/>
          <p:nvPr/>
        </p:nvSpPr>
        <p:spPr>
          <a:xfrm>
            <a:off x="13573720" y="2895600"/>
            <a:ext cx="24112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Atal Pension Yojana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financial products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952500" y="2357438"/>
            <a:ext cx="3924300" cy="6667500"/>
          </a:xfrm>
          <a:prstGeom prst="roundRect">
            <a:avLst>
              <a:gd name="adj" fmla="val 3883"/>
            </a:avLst>
          </a:prstGeom>
          <a:solidFill>
            <a:srgbClr val="16304E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643188"/>
            <a:ext cx="3688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3109913"/>
            <a:ext cx="3453384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5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deposits Savings accounts Credit cards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05400" y="2357438"/>
            <a:ext cx="3924300" cy="6667500"/>
          </a:xfrm>
          <a:prstGeom prst="roundRect">
            <a:avLst>
              <a:gd name="adj" fmla="val 3883"/>
            </a:avLst>
          </a:prstGeom>
          <a:solidFill>
            <a:srgbClr val="16304E"/>
          </a:solidFill>
          <a:ln/>
        </p:spPr>
      </p:sp>
      <p:sp>
        <p:nvSpPr>
          <p:cNvPr id="8" name="Text 6"/>
          <p:cNvSpPr/>
          <p:nvPr/>
        </p:nvSpPr>
        <p:spPr>
          <a:xfrm>
            <a:off x="5391150" y="2643188"/>
            <a:ext cx="3688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Managers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391150" y="3109913"/>
            <a:ext cx="345338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5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funds ETFs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258300" y="2357438"/>
            <a:ext cx="3924300" cy="6667500"/>
          </a:xfrm>
          <a:prstGeom prst="roundRect">
            <a:avLst>
              <a:gd name="adj" fmla="val 3883"/>
            </a:avLst>
          </a:prstGeom>
          <a:solidFill>
            <a:srgbClr val="16304E"/>
          </a:solidFill>
          <a:ln/>
        </p:spPr>
      </p:sp>
      <p:sp>
        <p:nvSpPr>
          <p:cNvPr id="11" name="Text 9"/>
          <p:cNvSpPr/>
          <p:nvPr/>
        </p:nvSpPr>
        <p:spPr>
          <a:xfrm>
            <a:off x="9544050" y="2643188"/>
            <a:ext cx="3688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44050" y="3109913"/>
            <a:ext cx="3453384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5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insurance Term insurance ULIPs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411200" y="2357438"/>
            <a:ext cx="3924300" cy="6667500"/>
          </a:xfrm>
          <a:prstGeom prst="roundRect">
            <a:avLst>
              <a:gd name="adj" fmla="val 3883"/>
            </a:avLst>
          </a:prstGeom>
          <a:solidFill>
            <a:srgbClr val="16304E"/>
          </a:solidFill>
          <a:ln/>
        </p:spPr>
      </p:sp>
      <p:sp>
        <p:nvSpPr>
          <p:cNvPr id="14" name="Text 12"/>
          <p:cNvSpPr/>
          <p:nvPr/>
        </p:nvSpPr>
        <p:spPr>
          <a:xfrm>
            <a:off x="13696950" y="2643188"/>
            <a:ext cx="3688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Brokerages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696950" y="3109913"/>
            <a:ext cx="3453384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5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Stocks &amp; bonds SIP platforms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2500" y="9253538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each: who provides it, who regulates it, risk, fees, liquidity, suitability.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planning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357438"/>
            <a:ext cx="581149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924175"/>
            <a:ext cx="544167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vs. new regime Section-based deductions Tax slabs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02375" y="2357438"/>
            <a:ext cx="581149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&amp; Instruments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502375" y="2924175"/>
            <a:ext cx="5441670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gains Tax on FDs, mutual funds, stocks Tax-saving investments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052250" y="2357438"/>
            <a:ext cx="58115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20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Withholding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052250" y="2924175"/>
            <a:ext cx="5441747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90000"/>
              </a:lnSpc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TDS Advance tax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52500" y="9253538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one of these numbers changes what the recommendation engine should suggest.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policies &amp; business rules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357438"/>
            <a:ext cx="86963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rules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2962275"/>
            <a:ext cx="8142923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tax regulations Pension regulations Product eligibility requirements Insurance regulations Investment limits on schemes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29750" y="2357438"/>
            <a:ext cx="86963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E7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policies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429750" y="2962275"/>
            <a:ext cx="7905750" cy="576263"/>
          </a:xfrm>
          <a:prstGeom prst="roundRect">
            <a:avLst>
              <a:gd name="adj" fmla="val 16529"/>
            </a:avLst>
          </a:prstGeom>
          <a:solidFill>
            <a:srgbClr val="16304E"/>
          </a:solidFill>
          <a:ln/>
        </p:spPr>
      </p:sp>
      <p:sp>
        <p:nvSpPr>
          <p:cNvPr id="8" name="Text 6"/>
          <p:cNvSpPr/>
          <p:nvPr/>
        </p:nvSpPr>
        <p:spPr>
          <a:xfrm>
            <a:off x="9639300" y="3114675"/>
            <a:ext cx="172330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Fund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4988183" y="3114675"/>
            <a:ext cx="2351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months expenses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429750" y="3671888"/>
            <a:ext cx="7905750" cy="576263"/>
          </a:xfrm>
          <a:prstGeom prst="roundRect">
            <a:avLst>
              <a:gd name="adj" fmla="val 16529"/>
            </a:avLst>
          </a:prstGeom>
          <a:solidFill>
            <a:srgbClr val="16304E"/>
          </a:solidFill>
          <a:ln/>
        </p:spPr>
      </p:sp>
      <p:sp>
        <p:nvSpPr>
          <p:cNvPr id="11" name="Text 9"/>
          <p:cNvSpPr/>
          <p:nvPr/>
        </p:nvSpPr>
        <p:spPr>
          <a:xfrm>
            <a:off x="9639300" y="3824288"/>
            <a:ext cx="132041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Rate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6748671" y="3824288"/>
            <a:ext cx="45347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429750" y="4381500"/>
            <a:ext cx="7905750" cy="576263"/>
          </a:xfrm>
          <a:prstGeom prst="roundRect">
            <a:avLst>
              <a:gd name="adj" fmla="val 16529"/>
            </a:avLst>
          </a:prstGeom>
          <a:solidFill>
            <a:srgbClr val="16304E"/>
          </a:solidFill>
          <a:ln/>
        </p:spPr>
      </p:sp>
      <p:sp>
        <p:nvSpPr>
          <p:cNvPr id="14" name="Text 12"/>
          <p:cNvSpPr/>
          <p:nvPr/>
        </p:nvSpPr>
        <p:spPr>
          <a:xfrm>
            <a:off x="9639300" y="4533900"/>
            <a:ext cx="106241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Ratio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497151" y="4533900"/>
            <a:ext cx="70499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35%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429750" y="5091113"/>
            <a:ext cx="7905750" cy="576263"/>
          </a:xfrm>
          <a:prstGeom prst="roundRect">
            <a:avLst>
              <a:gd name="adj" fmla="val 16529"/>
            </a:avLst>
          </a:prstGeom>
          <a:solidFill>
            <a:srgbClr val="16304E"/>
          </a:solidFill>
          <a:ln/>
        </p:spPr>
      </p:sp>
      <p:sp>
        <p:nvSpPr>
          <p:cNvPr id="17" name="Text 15"/>
          <p:cNvSpPr/>
          <p:nvPr/>
        </p:nvSpPr>
        <p:spPr>
          <a:xfrm>
            <a:off x="9639300" y="5243513"/>
            <a:ext cx="10263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988183" y="5243513"/>
            <a:ext cx="235154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10× annual income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429750" y="5819775"/>
            <a:ext cx="86963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Recommendations, not legal requirements — and they can change.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calculation engine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52637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formula: equation · variables · worked example · edge cases · code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52500" y="2667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62050" y="2857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Cash Flow</a:t>
            </a:r>
            <a:endParaRPr lang="en-US" sz="1575" dirty="0"/>
          </a:p>
        </p:txBody>
      </p:sp>
      <p:sp>
        <p:nvSpPr>
          <p:cNvPr id="7" name="Shape 5"/>
          <p:cNvSpPr/>
          <p:nvPr/>
        </p:nvSpPr>
        <p:spPr>
          <a:xfrm>
            <a:off x="5086350" y="2667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295900" y="2857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Savings Rate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9220200" y="2667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429750" y="2857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Worth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3354050" y="2667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563600" y="2857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Debt-to-Income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52500" y="3429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62050" y="3619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Fund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5086350" y="3429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95900" y="3619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Retirement Corpus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220200" y="3429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429750" y="3619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Planning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3354050" y="3429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563600" y="3619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Inflation Adjustment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52500" y="4191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2050" y="4381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Interest</a:t>
            </a:r>
            <a:endParaRPr lang="en-US" sz="1575" dirty="0"/>
          </a:p>
        </p:txBody>
      </p:sp>
      <p:sp>
        <p:nvSpPr>
          <p:cNvPr id="23" name="Shape 21"/>
          <p:cNvSpPr/>
          <p:nvPr/>
        </p:nvSpPr>
        <p:spPr>
          <a:xfrm>
            <a:off x="5086350" y="4191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295900" y="4381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Value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220200" y="4191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429750" y="4381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 Value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3354050" y="4191000"/>
            <a:ext cx="3981450" cy="609600"/>
          </a:xfrm>
          <a:prstGeom prst="roundRect">
            <a:avLst>
              <a:gd name="adj" fmla="val 15625"/>
            </a:avLst>
          </a:prstGeom>
          <a:solidFill>
            <a:srgbClr val="C79A3D"/>
          </a:solidFill>
          <a:ln/>
        </p:spPr>
      </p:sp>
      <p:sp>
        <p:nvSpPr>
          <p:cNvPr id="28" name="Text 26"/>
          <p:cNvSpPr/>
          <p:nvPr/>
        </p:nvSpPr>
        <p:spPr>
          <a:xfrm>
            <a:off x="13563600" y="4381500"/>
            <a:ext cx="36817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SIP &amp; EMI</a:t>
            </a:r>
            <a:endParaRPr lang="en-US" sz="15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recommendation pipeline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52637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output traces back to the inputs, calculations, and policies that produced it.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478087" y="5505450"/>
            <a:ext cx="157564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6" name="Text 4"/>
          <p:cNvSpPr/>
          <p:nvPr/>
        </p:nvSpPr>
        <p:spPr>
          <a:xfrm>
            <a:off x="1668587" y="5657850"/>
            <a:ext cx="12708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148980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9291" y="5505450"/>
            <a:ext cx="146707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9" name="Text 7"/>
          <p:cNvSpPr/>
          <p:nvPr/>
        </p:nvSpPr>
        <p:spPr>
          <a:xfrm>
            <a:off x="3569791" y="5657850"/>
            <a:ext cx="116227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941615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71926" y="5505450"/>
            <a:ext cx="1684288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12" name="Text 10"/>
          <p:cNvSpPr/>
          <p:nvPr/>
        </p:nvSpPr>
        <p:spPr>
          <a:xfrm>
            <a:off x="5362426" y="5657850"/>
            <a:ext cx="13794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Calculations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951464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81776" y="5505450"/>
            <a:ext cx="146707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15" name="Text 13"/>
          <p:cNvSpPr/>
          <p:nvPr/>
        </p:nvSpPr>
        <p:spPr>
          <a:xfrm>
            <a:off x="7372276" y="5657850"/>
            <a:ext cx="116227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Gov. Rules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8744099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74410" y="5505450"/>
            <a:ext cx="1358429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18" name="Text 16"/>
          <p:cNvSpPr/>
          <p:nvPr/>
        </p:nvSpPr>
        <p:spPr>
          <a:xfrm>
            <a:off x="9164910" y="5657850"/>
            <a:ext cx="10536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 Rules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0428089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658401" y="5505450"/>
            <a:ext cx="157564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21" name="Text 19"/>
          <p:cNvSpPr/>
          <p:nvPr/>
        </p:nvSpPr>
        <p:spPr>
          <a:xfrm>
            <a:off x="10848901" y="5657850"/>
            <a:ext cx="12708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Eligibility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2329294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559605" y="5505450"/>
            <a:ext cx="190150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24" name="Text 22"/>
          <p:cNvSpPr/>
          <p:nvPr/>
        </p:nvSpPr>
        <p:spPr>
          <a:xfrm>
            <a:off x="12750105" y="5657850"/>
            <a:ext cx="159670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 Policy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4556358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786670" y="5505450"/>
            <a:ext cx="1792858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27" name="Text 25"/>
          <p:cNvSpPr/>
          <p:nvPr/>
        </p:nvSpPr>
        <p:spPr>
          <a:xfrm>
            <a:off x="14977170" y="5657850"/>
            <a:ext cx="148805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Analysis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6674778" y="566975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17010" y="6124575"/>
            <a:ext cx="2118643" cy="509587"/>
          </a:xfrm>
          <a:prstGeom prst="roundRect">
            <a:avLst>
              <a:gd name="adj" fmla="val 16822"/>
            </a:avLst>
          </a:prstGeom>
          <a:solidFill>
            <a:srgbClr val="16304E"/>
          </a:solidFill>
          <a:ln/>
        </p:spPr>
      </p:sp>
      <p:sp>
        <p:nvSpPr>
          <p:cNvPr id="30" name="Text 28"/>
          <p:cNvSpPr/>
          <p:nvPr/>
        </p:nvSpPr>
        <p:spPr>
          <a:xfrm>
            <a:off x="7107510" y="6276975"/>
            <a:ext cx="181384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Scoring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130903" y="6288881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61215" y="6110288"/>
            <a:ext cx="2009775" cy="538163"/>
          </a:xfrm>
          <a:prstGeom prst="roundRect">
            <a:avLst>
              <a:gd name="adj" fmla="val 15929"/>
            </a:avLst>
          </a:prstGeom>
          <a:solidFill>
            <a:srgbClr val="1E7A5F"/>
          </a:solidFill>
          <a:ln/>
        </p:spPr>
      </p:sp>
      <p:sp>
        <p:nvSpPr>
          <p:cNvPr id="33" name="Text 31"/>
          <p:cNvSpPr/>
          <p:nvPr/>
        </p:nvSpPr>
        <p:spPr>
          <a:xfrm>
            <a:off x="9551715" y="6262688"/>
            <a:ext cx="170497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0F20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Recommendations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14400"/>
            <a:ext cx="1802130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1E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52500" y="1281113"/>
            <a:ext cx="18021300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122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finance to code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952500" y="2052637"/>
            <a:ext cx="180213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business concept maps to a place in the codebase.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206624" y="5524500"/>
            <a:ext cx="815429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397124" y="5676900"/>
            <a:ext cx="5106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117303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47615" y="5524500"/>
            <a:ext cx="179285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538115" y="5676900"/>
            <a:ext cx="148805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Questionnaire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4235723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6034" y="5524500"/>
            <a:ext cx="1467073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56534" y="5676900"/>
            <a:ext cx="1162273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6028358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8669" y="5524500"/>
            <a:ext cx="2335857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9169" y="5676900"/>
            <a:ext cx="203105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Calculation Engine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8689777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20088" y="5524500"/>
            <a:ext cx="179285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10588" y="5676900"/>
            <a:ext cx="148805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Engine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0808196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038508" y="5524500"/>
            <a:ext cx="2661717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229008" y="5676900"/>
            <a:ext cx="236056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Engine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795474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025786" y="5524500"/>
            <a:ext cx="1358429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4216286" y="5676900"/>
            <a:ext cx="105362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5479464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709776" y="5524500"/>
            <a:ext cx="1141288" cy="509587"/>
          </a:xfrm>
          <a:prstGeom prst="roundRect">
            <a:avLst>
              <a:gd name="adj" fmla="val 16822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5900276" y="5676900"/>
            <a:ext cx="83648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220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6946314" y="5688806"/>
            <a:ext cx="21126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56253" y="6129338"/>
            <a:ext cx="1575495" cy="538163"/>
          </a:xfrm>
          <a:prstGeom prst="roundRect">
            <a:avLst>
              <a:gd name="adj" fmla="val 15929"/>
            </a:avLst>
          </a:prstGeom>
          <a:solidFill>
            <a:srgbClr val="0F2036"/>
          </a:solidFill>
          <a:ln/>
        </p:spPr>
      </p:sp>
      <p:sp>
        <p:nvSpPr>
          <p:cNvPr id="30" name="Text 28"/>
          <p:cNvSpPr/>
          <p:nvPr/>
        </p:nvSpPr>
        <p:spPr>
          <a:xfrm>
            <a:off x="8546753" y="6281738"/>
            <a:ext cx="127069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7F3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Insights</a:t>
            </a:r>
            <a:endParaRPr lang="en-US" sz="14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64029" y="3818632"/>
            <a:ext cx="375986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270" kern="0" dirty="0">
                <a:solidFill>
                  <a:srgbClr val="C79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MODULE 1 PREVIEW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844593" y="4299645"/>
            <a:ext cx="8598739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7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money first. The code follows.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837370" y="6044505"/>
            <a:ext cx="661318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8496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 Engineering Handbook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2026-07-05T19:06:31Z</dcterms:created>
  <dcterms:modified xsi:type="dcterms:W3CDTF">2026-07-05T19:06:31Z</dcterms:modified>
</cp:coreProperties>
</file>